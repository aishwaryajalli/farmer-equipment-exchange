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3" r:id="rId2"/>
    <p:sldId id="27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6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1213A-AD26-4CD0-B873-D5CBA3779131}" type="datetimeFigureOut">
              <a:rPr lang="en-IN" smtClean="0"/>
              <a:t>10-10-2024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B8CDF-F29B-4B89-8997-26CAAF07C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120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B8CDF-F29B-4B89-8997-26CAAF07C62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731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324562855_Touching_Virtual_Reality_a_Review_of_Haptic_Gloves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291DB-23C9-3989-BDA0-042C14085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4" y="426567"/>
            <a:ext cx="8229600" cy="6004865"/>
          </a:xfrm>
        </p:spPr>
        <p:txBody>
          <a:bodyPr>
            <a:noAutofit/>
          </a:bodyPr>
          <a:lstStyle/>
          <a:p>
            <a:pPr marL="0" marR="364998" indent="0" algn="ctr">
              <a:spcBef>
                <a:spcPts val="522"/>
              </a:spcBef>
              <a:buFont typeface="Arial" pitchFamily="34" charset="0"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 L. E. Society’s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K.L.E. INSTITUTE OF TECHNOLOGY</a:t>
            </a:r>
            <a:b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HUBBALLI - 580027, KARNATAKA STATE, INDIA</a:t>
            </a:r>
            <a:endParaRPr lang="en-US" sz="2000" b="1" dirty="0">
              <a:solidFill>
                <a:srgbClr val="001F6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364998" indent="0" algn="ctr">
              <a:spcBef>
                <a:spcPts val="522"/>
              </a:spcBef>
              <a:buFont typeface="Arial" pitchFamily="34" charset="0"/>
              <a:buNone/>
            </a:pPr>
            <a:endParaRPr lang="en-US" sz="2000" b="1" dirty="0">
              <a:solidFill>
                <a:srgbClr val="001F6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364998" indent="0" algn="ctr">
              <a:spcBef>
                <a:spcPts val="522"/>
              </a:spcBef>
              <a:buFont typeface="Arial" pitchFamily="34" charset="0"/>
              <a:buNone/>
            </a:pPr>
            <a:r>
              <a:rPr lang="en-US" sz="2000" b="1" dirty="0">
                <a:solidFill>
                  <a:srgbClr val="001F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Department of Master of</a:t>
            </a:r>
            <a:r>
              <a:rPr lang="en-US" sz="2000" b="1" spc="-18" dirty="0">
                <a:solidFill>
                  <a:srgbClr val="001F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1F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Computer</a:t>
            </a:r>
            <a:r>
              <a:rPr lang="en-US" sz="2000" b="1" spc="-6" dirty="0">
                <a:solidFill>
                  <a:srgbClr val="001F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1F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Applications</a:t>
            </a:r>
          </a:p>
          <a:p>
            <a:pPr marL="0" marR="364998" indent="0" algn="ctr">
              <a:lnSpc>
                <a:spcPct val="150000"/>
              </a:lnSpc>
              <a:spcBef>
                <a:spcPts val="522"/>
              </a:spcBef>
              <a:buFont typeface="Arial" pitchFamily="34" charset="0"/>
              <a:buNone/>
            </a:pPr>
            <a:r>
              <a:rPr lang="en-US" sz="2000" b="1" dirty="0">
                <a:solidFill>
                  <a:srgbClr val="001F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Seminar On: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“Haptic Glove”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92024" marR="346710" indent="0" algn="ctr">
              <a:spcBef>
                <a:spcPts val="0"/>
              </a:spcBef>
              <a:buFont typeface="Arial" pitchFamily="34" charset="0"/>
              <a:buNone/>
            </a:pPr>
            <a:r>
              <a:rPr lang="en-US" sz="2000" b="1" i="1" dirty="0">
                <a:solidFill>
                  <a:srgbClr val="001F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Submitted</a:t>
            </a:r>
            <a:r>
              <a:rPr lang="en-US" sz="2000" b="1" i="1" spc="72" dirty="0">
                <a:solidFill>
                  <a:srgbClr val="001F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i="1" dirty="0">
                <a:solidFill>
                  <a:srgbClr val="001F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by: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7452" marR="364998" indent="0" algn="ctr">
              <a:spcBef>
                <a:spcPts val="828"/>
              </a:spcBef>
              <a:buFont typeface="Arial" pitchFamily="34" charset="0"/>
              <a:buNone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Aishwarya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Neminath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Jalli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90500" marR="364998" indent="0" algn="ctr">
              <a:spcBef>
                <a:spcPts val="822"/>
              </a:spcBef>
              <a:buFont typeface="Arial" pitchFamily="34" charset="0"/>
              <a:buNone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USN:</a:t>
            </a:r>
            <a:r>
              <a:rPr lang="en-US" sz="2000" b="1" spc="-36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2KE23MC002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spcBef>
                <a:spcPts val="24"/>
              </a:spcBef>
              <a:buFont typeface="Arial" pitchFamily="34" charset="0"/>
              <a:buNone/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92024" marR="350520" indent="0" algn="ctr">
              <a:spcBef>
                <a:spcPts val="0"/>
              </a:spcBef>
              <a:buFont typeface="Arial" pitchFamily="34" charset="0"/>
              <a:buNone/>
            </a:pPr>
            <a:r>
              <a:rPr lang="en-US" sz="2000" b="1" i="1" dirty="0">
                <a:solidFill>
                  <a:srgbClr val="001F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Under</a:t>
            </a:r>
            <a:r>
              <a:rPr lang="en-US" sz="2000" b="1" i="1" spc="72" dirty="0">
                <a:solidFill>
                  <a:srgbClr val="001F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i="1" dirty="0">
                <a:solidFill>
                  <a:srgbClr val="001F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b="1" i="1" spc="60" dirty="0">
                <a:solidFill>
                  <a:srgbClr val="001F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i="1" dirty="0">
                <a:solidFill>
                  <a:srgbClr val="001F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Guidance</a:t>
            </a:r>
            <a:r>
              <a:rPr lang="en-US" sz="2000" b="1" i="1" spc="66" dirty="0">
                <a:solidFill>
                  <a:srgbClr val="001F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i="1" dirty="0">
                <a:solidFill>
                  <a:srgbClr val="001F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91262" marR="364998" indent="0" algn="ctr">
              <a:spcBef>
                <a:spcPts val="828"/>
              </a:spcBef>
              <a:buFont typeface="Arial" pitchFamily="34" charset="0"/>
              <a:buNone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Mrs. ANUPAMA S N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4404" marR="364998" indent="0" algn="ctr">
              <a:spcBef>
                <a:spcPts val="804"/>
              </a:spcBef>
              <a:buFont typeface="Arial" pitchFamily="34" charset="0"/>
              <a:buNone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Associate</a:t>
            </a:r>
            <a:r>
              <a:rPr lang="en-US" sz="2000" b="1" spc="102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Professor,</a:t>
            </a:r>
            <a:r>
              <a:rPr lang="en-US" sz="2000" b="1" spc="126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Department</a:t>
            </a:r>
            <a:r>
              <a:rPr lang="en-US" sz="2000" b="1" spc="96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2000" b="1" spc="108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Master</a:t>
            </a:r>
            <a:r>
              <a:rPr lang="en-US" sz="2000" b="1" spc="96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2000" b="1" spc="126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Computer</a:t>
            </a:r>
            <a:r>
              <a:rPr lang="en-US" sz="2000" b="1" spc="114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Applications,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4404" marR="364998" indent="0" algn="ctr">
              <a:spcBef>
                <a:spcPts val="804"/>
              </a:spcBef>
              <a:buFont typeface="Arial" pitchFamily="34" charset="0"/>
              <a:buNone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K.L.E.</a:t>
            </a:r>
            <a:r>
              <a:rPr lang="en-US" sz="2000" b="1" spc="108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Institute</a:t>
            </a:r>
            <a:r>
              <a:rPr lang="en-US" sz="2000" b="1" spc="102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2000" b="1" spc="96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Technology,</a:t>
            </a:r>
            <a:r>
              <a:rPr lang="en-US" sz="2000" b="1" spc="108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Hubballi-27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sz="2400" dirty="0"/>
          </a:p>
        </p:txBody>
      </p:sp>
      <p:pic>
        <p:nvPicPr>
          <p:cNvPr id="4" name="image6.jpeg">
            <a:extLst>
              <a:ext uri="{FF2B5EF4-FFF2-40B4-BE49-F238E27FC236}">
                <a16:creationId xmlns:a16="http://schemas.microsoft.com/office/drawing/2014/main" id="{9401E8DB-931E-89D1-14B4-4ECE20735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14" y="234393"/>
            <a:ext cx="1408155" cy="102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5.jpeg">
            <a:extLst>
              <a:ext uri="{FF2B5EF4-FFF2-40B4-BE49-F238E27FC236}">
                <a16:creationId xmlns:a16="http://schemas.microsoft.com/office/drawing/2014/main" id="{C6499423-275A-B25E-5311-EA1234F3D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870" y="96367"/>
            <a:ext cx="1702130" cy="1237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1667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5D60-726E-18CE-5F3B-547A4B985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4000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0C210-E94C-F949-FF4F-646799833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600" dirty="0"/>
              <a:t>Introduction</a:t>
            </a:r>
          </a:p>
          <a:p>
            <a:r>
              <a:rPr lang="en-IN" sz="3600" dirty="0"/>
              <a:t>What is MANUS</a:t>
            </a:r>
          </a:p>
          <a:p>
            <a:r>
              <a:rPr lang="en-IN" sz="3600" dirty="0"/>
              <a:t>Sensors and its types</a:t>
            </a:r>
          </a:p>
          <a:p>
            <a:r>
              <a:rPr lang="en-IN" sz="3600" dirty="0"/>
              <a:t>Components</a:t>
            </a:r>
          </a:p>
          <a:p>
            <a:r>
              <a:rPr lang="en-IN" sz="3600" dirty="0"/>
              <a:t>Applications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dirty="0"/>
          </a:p>
          <a:p>
            <a:r>
              <a:rPr lang="en-IN" sz="36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880932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Haptic Glove: Technology &amp; Components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Focusing on MANUS Sensors and Components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Introduction to Haptic Feedback Gloves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Haptic Feedback Gloves provide tactile sensations to users, simulating the sense of touch.</a:t>
            </a:r>
          </a:p>
          <a:p>
            <a:r>
              <a:rPr dirty="0"/>
              <a:t>Commonly used in VR, AR, robotics, and training simulations.</a:t>
            </a:r>
          </a:p>
          <a:p>
            <a:r>
              <a:rPr dirty="0"/>
              <a:t>Enables users to feel virtual objects, enhancing immersion and interaction.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MANUS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/>
              <a:t>MANUS is a leading provider of haptic feedback gloves.</a:t>
            </a:r>
          </a:p>
          <a:p>
            <a:r>
              <a:rPr sz="2400" dirty="0"/>
              <a:t>Known for advanced sensing technology and ergonomic designs.</a:t>
            </a:r>
          </a:p>
          <a:p>
            <a:r>
              <a:rPr sz="2400" dirty="0"/>
              <a:t>Applications include gaming, VR training, and professional simulation.</a:t>
            </a:r>
          </a:p>
        </p:txBody>
      </p:sp>
      <p:pic>
        <p:nvPicPr>
          <p:cNvPr id="4" name="Picture 3" descr="Haptic_Glove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87" y="3769568"/>
            <a:ext cx="2659224" cy="26592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Sensors Used in Haptic Feedback Gloves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The MANUS glove uses multiple sensors to track motion and provide feedback.</a:t>
            </a:r>
          </a:p>
          <a:p>
            <a:r>
              <a:rPr dirty="0"/>
              <a:t>Sensors include:</a:t>
            </a:r>
          </a:p>
          <a:p>
            <a:r>
              <a:rPr dirty="0"/>
              <a:t>- Force sensors</a:t>
            </a:r>
          </a:p>
          <a:p>
            <a:r>
              <a:rPr dirty="0"/>
              <a:t>- Flex sensors</a:t>
            </a:r>
          </a:p>
          <a:p>
            <a:r>
              <a:rPr dirty="0"/>
              <a:t>- Accelerometers</a:t>
            </a:r>
          </a:p>
          <a:p>
            <a:r>
              <a:rPr dirty="0"/>
              <a:t>- Gyroscopes</a:t>
            </a:r>
          </a:p>
          <a:p>
            <a:r>
              <a:rPr dirty="0"/>
              <a:t>- Touch sensors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Force Sensors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Measure the amount of force exerted by fingers.</a:t>
            </a:r>
          </a:p>
          <a:p>
            <a:r>
              <a:rPr sz="2400" dirty="0"/>
              <a:t>Helps simulate resistance, weight, and texture in virtual environments.</a:t>
            </a:r>
          </a:p>
          <a:p>
            <a:r>
              <a:rPr sz="2400" dirty="0"/>
              <a:t>Essential for realistic haptic feedback.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37555-23D5-CC85-D4F6-A065FD862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939" y="3231485"/>
            <a:ext cx="5379331" cy="36265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Flex Sensors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1642"/>
            <a:ext cx="8229600" cy="5561044"/>
          </a:xfrm>
        </p:spPr>
        <p:txBody>
          <a:bodyPr>
            <a:normAutofit/>
          </a:bodyPr>
          <a:lstStyle/>
          <a:p>
            <a:r>
              <a:rPr sz="2400" dirty="0"/>
              <a:t>Detect bending of fingers and hand movements.</a:t>
            </a:r>
          </a:p>
          <a:p>
            <a:r>
              <a:rPr sz="2400" dirty="0"/>
              <a:t>Used to capture precise finger positions.</a:t>
            </a:r>
          </a:p>
          <a:p>
            <a:r>
              <a:rPr sz="2400" dirty="0"/>
              <a:t>Important for gesture recognition and detailed hand tracking.</a:t>
            </a:r>
            <a:endParaRPr lang="en-IN" sz="2400" dirty="0"/>
          </a:p>
          <a:p>
            <a:r>
              <a:rPr lang="en-US" sz="2400" dirty="0"/>
              <a:t>Functionality: Flex sensors measure the angle and extent of finger bends, which allows the glove to track complex gestures.</a:t>
            </a:r>
          </a:p>
          <a:p>
            <a:r>
              <a:rPr lang="en-US" sz="2400" dirty="0"/>
              <a:t>Applications: Important for applications that require hand dexterity, such as remote manipulation in hazardous environments or virtual object manipulation in VR training.</a:t>
            </a:r>
          </a:p>
          <a:p>
            <a:r>
              <a:rPr lang="en-US" sz="2400" dirty="0"/>
              <a:t>gesture recognition and allow detailed interactions, such as pinching, grabbing, or pointing.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Accelerometers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Measure the speed and direction of hand movements.</a:t>
            </a:r>
          </a:p>
          <a:p>
            <a:r>
              <a:rPr sz="2400" dirty="0"/>
              <a:t>Enhance accuracy in dynamic motion tracking.</a:t>
            </a:r>
          </a:p>
          <a:p>
            <a:r>
              <a:rPr sz="2400" dirty="0"/>
              <a:t>Useful for real-time interaction with VR environments.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7309FD-35FE-3FEF-A636-4ED9ECACC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085" y="3169460"/>
            <a:ext cx="3526972" cy="35269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Gyroscopes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57800"/>
          </a:xfrm>
        </p:spPr>
        <p:txBody>
          <a:bodyPr>
            <a:normAutofit/>
          </a:bodyPr>
          <a:lstStyle/>
          <a:p>
            <a:r>
              <a:rPr sz="2400" dirty="0"/>
              <a:t>Track the orientation and rotation of the hand.</a:t>
            </a:r>
          </a:p>
          <a:p>
            <a:r>
              <a:rPr sz="2400" dirty="0"/>
              <a:t>Complement accelerometers to provide full 3D motion tracking.</a:t>
            </a:r>
          </a:p>
          <a:p>
            <a:r>
              <a:rPr sz="2400" dirty="0"/>
              <a:t>Essential for simulating realistic hand movements.</a:t>
            </a:r>
            <a:endParaRPr lang="en-IN" sz="2400" dirty="0"/>
          </a:p>
          <a:p>
            <a:r>
              <a:rPr lang="en-US" sz="2400" dirty="0"/>
              <a:t>Functionality: Gyroscopes detect rotational movement, allowing the glove to track how the hand is turned or tilted.</a:t>
            </a:r>
          </a:p>
          <a:p>
            <a:r>
              <a:rPr lang="en-US" sz="2400" dirty="0"/>
              <a:t>Applications: Essential for realistic simulations where hand orientation matters, such as flight simulations or virtual drawing. </a:t>
            </a:r>
          </a:p>
          <a:p>
            <a:r>
              <a:rPr lang="en-US" sz="2400" dirty="0"/>
              <a:t>In combination with accelerometers, provide a full range of motion tracking, which is critical for an immersive experience.</a:t>
            </a:r>
            <a:endParaRPr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Touch Sensors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400" dirty="0"/>
              <a:t>Detect when and where the glove makes contact with objects.</a:t>
            </a:r>
          </a:p>
          <a:p>
            <a:r>
              <a:rPr sz="2400" dirty="0"/>
              <a:t>Allows for pressure-sensitive interaction.</a:t>
            </a:r>
          </a:p>
          <a:p>
            <a:r>
              <a:rPr sz="2400" dirty="0"/>
              <a:t>Key for simulating touch sensations.</a:t>
            </a:r>
            <a:endParaRPr lang="en-IN" sz="2400" dirty="0"/>
          </a:p>
          <a:p>
            <a:r>
              <a:rPr lang="en-US" sz="2400" dirty="0"/>
              <a:t>Functionality: These sensors detect contact and pressure at various points on the glove, allowing for detailed interaction with virtual objects.</a:t>
            </a:r>
          </a:p>
          <a:p>
            <a:r>
              <a:rPr lang="en-US" sz="2400" dirty="0"/>
              <a:t>Applications: Ideal for tasks that require tactile feedback, such as virtual sculpting or training applications where precise touch is needed. </a:t>
            </a:r>
          </a:p>
          <a:p>
            <a:r>
              <a:rPr lang="en-US" sz="2400" dirty="0"/>
              <a:t>Touch sensors simulate the feeling of different textures, improving the sensory experience and allowing users to distinguish between various surfaces.</a:t>
            </a:r>
            <a:endParaRPr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Components of Haptic Feedback Gloves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Haptic gloves comprise multiple components, including:</a:t>
            </a:r>
          </a:p>
          <a:p>
            <a:r>
              <a:rPr dirty="0"/>
              <a:t>- Actuators</a:t>
            </a:r>
          </a:p>
          <a:p>
            <a:r>
              <a:rPr dirty="0"/>
              <a:t>- Electronics</a:t>
            </a:r>
          </a:p>
          <a:p>
            <a:r>
              <a:rPr dirty="0"/>
              <a:t>- Power Source</a:t>
            </a:r>
          </a:p>
          <a:p>
            <a:r>
              <a:rPr dirty="0"/>
              <a:t>- Communication Interface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9612"/>
            <a:ext cx="8229600" cy="5136502"/>
          </a:xfrm>
        </p:spPr>
        <p:txBody>
          <a:bodyPr>
            <a:normAutofit lnSpcReduction="10000"/>
          </a:bodyPr>
          <a:lstStyle/>
          <a:p>
            <a:r>
              <a:rPr sz="2400" dirty="0"/>
              <a:t>Create physical sensations by exerting force on the hand.</a:t>
            </a:r>
          </a:p>
          <a:p>
            <a:r>
              <a:rPr sz="2400" dirty="0"/>
              <a:t>Simulate textures, resistance, and vibrations.</a:t>
            </a:r>
          </a:p>
          <a:p>
            <a:r>
              <a:rPr sz="2400" dirty="0"/>
              <a:t>Provide feedback for enhanced realism in VR/AR.</a:t>
            </a:r>
            <a:endParaRPr lang="en-IN" sz="2400" dirty="0"/>
          </a:p>
          <a:p>
            <a:r>
              <a:rPr lang="en-US" sz="2400" u="sng" dirty="0"/>
              <a:t>Types of Actuators: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Vibration Actuators: Produce vibrations that simulate texture and impact.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Linear Actuators: Create resistance and pressure sensations by moving in a straight line.</a:t>
            </a:r>
          </a:p>
          <a:p>
            <a:r>
              <a:rPr lang="en-US" sz="2400" dirty="0"/>
              <a:t>Applications: Used in VR gaming for immersive experiences, training simulations to replicate real-world tasks, and therapy applications for rehabilitation. actuator type can influence the user's experience, particularly in terms of realism and responsiveness.</a:t>
            </a:r>
            <a:endParaRPr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0897"/>
            <a:ext cx="8229600" cy="5257800"/>
          </a:xfrm>
        </p:spPr>
        <p:txBody>
          <a:bodyPr>
            <a:normAutofit fontScale="92500"/>
          </a:bodyPr>
          <a:lstStyle/>
          <a:p>
            <a:r>
              <a:rPr sz="2400" dirty="0"/>
              <a:t>Process data from sensors and control actuators.</a:t>
            </a:r>
          </a:p>
          <a:p>
            <a:r>
              <a:rPr sz="2400" dirty="0"/>
              <a:t>Include microcontrollers and processors for real-time response.</a:t>
            </a:r>
          </a:p>
          <a:p>
            <a:r>
              <a:rPr sz="2400" dirty="0"/>
              <a:t>Ensure seamless integration with software.</a:t>
            </a:r>
            <a:endParaRPr lang="en-IN" sz="2400" dirty="0"/>
          </a:p>
          <a:p>
            <a:r>
              <a:rPr lang="en-US" sz="2400" dirty="0"/>
              <a:t>Functionality: Electronics within the glove process the data collected from sensors and control the actuators to provide real-time feedback.</a:t>
            </a:r>
          </a:p>
          <a:p>
            <a:r>
              <a:rPr lang="en-US" sz="2400" dirty="0"/>
              <a:t>Key Components:</a:t>
            </a:r>
          </a:p>
          <a:p>
            <a:r>
              <a:rPr lang="en-US" sz="2400" dirty="0"/>
              <a:t>Microcontrollers: Serve as the brain of the glove, processing data and managing communications between sensors and actuators.</a:t>
            </a:r>
          </a:p>
          <a:p>
            <a:r>
              <a:rPr lang="en-US" sz="2400" dirty="0"/>
              <a:t>Wireless Modules: Allow for communication with VR systems or computers, enabling real-time interaction.</a:t>
            </a:r>
          </a:p>
          <a:p>
            <a:r>
              <a:rPr lang="en-US" sz="2400" dirty="0"/>
              <a:t>Integration: The electronics are designed to be compact and lightweight to maintain the glove's usability and comfort.</a:t>
            </a:r>
            <a:endParaRPr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1620"/>
            <a:ext cx="8229600" cy="5192486"/>
          </a:xfrm>
        </p:spPr>
        <p:txBody>
          <a:bodyPr>
            <a:normAutofit fontScale="92500"/>
          </a:bodyPr>
          <a:lstStyle/>
          <a:p>
            <a:r>
              <a:rPr sz="2400" dirty="0"/>
              <a:t>Power is provided by rechargeable batteries.</a:t>
            </a:r>
          </a:p>
          <a:p>
            <a:r>
              <a:rPr sz="2400" dirty="0"/>
              <a:t>Determines the glove's runtime and portability.</a:t>
            </a:r>
          </a:p>
          <a:p>
            <a:r>
              <a:rPr sz="2400" dirty="0"/>
              <a:t>Considerations include battery life and weight.</a:t>
            </a:r>
            <a:endParaRPr lang="en-IN" sz="2400" dirty="0"/>
          </a:p>
          <a:p>
            <a:r>
              <a:rPr lang="en-US" sz="2400" dirty="0"/>
              <a:t>Functionality: The power source provides energy to all components of the glove, including sensors, actuators, and electronics.</a:t>
            </a:r>
          </a:p>
          <a:p>
            <a:r>
              <a:rPr lang="en-US" sz="2400" dirty="0"/>
              <a:t>Types of Power Sources:</a:t>
            </a:r>
          </a:p>
          <a:p>
            <a:r>
              <a:rPr lang="en-US" sz="2400" dirty="0"/>
              <a:t>Rechargeable Batteries: Commonly used for their convenience and ability to provide a decent </a:t>
            </a:r>
            <a:r>
              <a:rPr lang="en-US" sz="2400" dirty="0" err="1"/>
              <a:t>runtime.Battery</a:t>
            </a:r>
            <a:r>
              <a:rPr lang="en-US" sz="2400" dirty="0"/>
              <a:t> Life Considerations: Discuss factors that affect battery life, such as usage intensity and the number of active sensors and actuators.</a:t>
            </a:r>
          </a:p>
          <a:p>
            <a:r>
              <a:rPr lang="en-US" sz="2400" dirty="0"/>
              <a:t>Importance of Portability: The design must balance battery capacity with weight to ensure the glove remains comfortable for prolonged use.</a:t>
            </a:r>
            <a:endParaRPr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9536"/>
            <a:ext cx="8229600" cy="551850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communication interface allows the glove to connect with VR systems, computers, or other devices, facilitating data exchange and feedback.</a:t>
            </a:r>
          </a:p>
          <a:p>
            <a:r>
              <a:rPr lang="en-US" u="sng" dirty="0"/>
              <a:t>Types of Communication:</a:t>
            </a:r>
          </a:p>
          <a:p>
            <a:r>
              <a:rPr lang="en-US" dirty="0"/>
              <a:t>Bluetooth: Common for wireless communication, offering convenience and flexibility in movement.</a:t>
            </a:r>
          </a:p>
          <a:p>
            <a:r>
              <a:rPr lang="en-US" dirty="0"/>
              <a:t>USB Connections: Provide a stable and fast connection, particularly useful for stationary setups.</a:t>
            </a:r>
          </a:p>
          <a:p>
            <a:r>
              <a:rPr lang="en-US" dirty="0"/>
              <a:t>Wi-Fi: Enables high-bandwidth connections for applications requiring large data transfers.</a:t>
            </a:r>
          </a:p>
          <a:p>
            <a:r>
              <a:rPr lang="en-US" dirty="0"/>
              <a:t>Real-time Feedback: Discuss how low-latency communication is crucial for maintaining immersion in VR environments. </a:t>
            </a:r>
          </a:p>
          <a:p>
            <a:r>
              <a:rPr lang="en-US" dirty="0"/>
              <a:t>The importance of interoperability with various devices and platforms, enhancing the glove's versatility.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Applications of Haptic Feedback Gloves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Used in VR training for medical, military, and industrial applications.</a:t>
            </a:r>
          </a:p>
          <a:p>
            <a:r>
              <a:rPr dirty="0"/>
              <a:t>Essential for realistic gaming experiences.</a:t>
            </a:r>
          </a:p>
          <a:p>
            <a:r>
              <a:rPr dirty="0"/>
              <a:t>Valuable in remote robotic control and telepresence.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Haptic Feedback Gloves enhance VR/AR experiences by simulating touch.</a:t>
            </a:r>
          </a:p>
          <a:p>
            <a:r>
              <a:t>MANUS technology uses advanced sensors and actuators to provide precise feedback.</a:t>
            </a:r>
          </a:p>
          <a:p>
            <a:r>
              <a:t>A growing technology with wide-ranging applications in various fields.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E4E1-0D0E-24C0-F612-F710116A3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5148"/>
            <a:ext cx="7772400" cy="1470025"/>
          </a:xfrm>
        </p:spPr>
        <p:txBody>
          <a:bodyPr/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6830A5-886F-9BCF-92E9-7C4D223D0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2008238"/>
            <a:ext cx="8613058" cy="4451555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hlinkClick r:id="rId2"/>
              </a:rPr>
              <a:t>https://www.researchgate.net/publication/324562855_Touching_Virtual_Reality_a_Review_of_Haptic_Gloves</a:t>
            </a:r>
            <a:endParaRPr lang="en-US" sz="2400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www.springer.com on Haptic Simulators for Medical Training​(SpringerLink)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www.senseglove.com on Haptics in Healthcare​(</a:t>
            </a:r>
            <a:r>
              <a:rPr lang="en-US" sz="2400" dirty="0" err="1">
                <a:solidFill>
                  <a:schemeClr val="tx1"/>
                </a:solidFill>
              </a:rPr>
              <a:t>SenseGlove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707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6FDC23A6-7C88-F01B-C65C-283929BC2E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8465" y="2300748"/>
            <a:ext cx="5928851" cy="39034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C707EF-8335-66E6-1B75-0D415A322E0F}"/>
              </a:ext>
            </a:extLst>
          </p:cNvPr>
          <p:cNvSpPr txBox="1"/>
          <p:nvPr/>
        </p:nvSpPr>
        <p:spPr>
          <a:xfrm>
            <a:off x="3215148" y="975541"/>
            <a:ext cx="39722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837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1103</Words>
  <Application>Microsoft Office PowerPoint</Application>
  <PresentationFormat>On-screen Show (4:3)</PresentationFormat>
  <Paragraphs>121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Office Theme</vt:lpstr>
      <vt:lpstr>PowerPoint Presentation</vt:lpstr>
      <vt:lpstr>Content</vt:lpstr>
      <vt:lpstr>Haptic Glove: Technology &amp; Components</vt:lpstr>
      <vt:lpstr>Introduction to Haptic Feedback Gloves</vt:lpstr>
      <vt:lpstr>What is MANUS</vt:lpstr>
      <vt:lpstr>Sensors Used in Haptic Feedback Gloves</vt:lpstr>
      <vt:lpstr>Force Sensors</vt:lpstr>
      <vt:lpstr>Flex Sensors</vt:lpstr>
      <vt:lpstr>Accelerometers</vt:lpstr>
      <vt:lpstr>Gyroscopes</vt:lpstr>
      <vt:lpstr>Touch Sensors</vt:lpstr>
      <vt:lpstr>Components of Haptic Feedback Gloves</vt:lpstr>
      <vt:lpstr>Actuators</vt:lpstr>
      <vt:lpstr>Electronics</vt:lpstr>
      <vt:lpstr>Power Source</vt:lpstr>
      <vt:lpstr>Communication Interface</vt:lpstr>
      <vt:lpstr>Applications of Haptic Feedback Gloves</vt:lpstr>
      <vt:lpstr>Conclusion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 3590</dc:creator>
  <cp:keywords/>
  <dc:description>generated using python-pptx</dc:description>
  <cp:lastModifiedBy>Aishwarya Jalli</cp:lastModifiedBy>
  <cp:revision>32</cp:revision>
  <dcterms:created xsi:type="dcterms:W3CDTF">2013-01-27T09:14:16Z</dcterms:created>
  <dcterms:modified xsi:type="dcterms:W3CDTF">2024-10-10T09:19:13Z</dcterms:modified>
  <cp:category/>
</cp:coreProperties>
</file>